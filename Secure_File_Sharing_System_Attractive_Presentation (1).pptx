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SECURE FILE-SHARING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914400"/>
            <a:ext cx="82296" cy="82296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73567" y="1115568"/>
            <a:ext cx="82296" cy="82296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49055" y="1316736"/>
            <a:ext cx="82296" cy="82296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24544" y="1517904"/>
            <a:ext cx="82296" cy="82296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00032" y="1719072"/>
            <a:ext cx="82296" cy="82296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19" y="1920240"/>
            <a:ext cx="82296" cy="82296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2121408"/>
            <a:ext cx="82296" cy="82296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4480560"/>
            <a:ext cx="64008" cy="6400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13648" y="4224528"/>
            <a:ext cx="64008" cy="6400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97696" y="3968496"/>
            <a:ext cx="64008" cy="6400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81744" y="3712464"/>
            <a:ext cx="64008" cy="6400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65792" y="3456432"/>
            <a:ext cx="64008" cy="6400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79" y="1874519"/>
            <a:ext cx="2240280" cy="242316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240280"/>
            <a:ext cx="17830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500" b="1">
                <a:solidFill>
                  <a:srgbClr val="3FD3D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310128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5F9FC"/>
                </a:solidFill>
                <a:latin typeface="Aptos"/>
              </a:defRPr>
            </a:pPr>
            <a:r>
              <a:t>SECURE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657600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859AAE"/>
                </a:solidFill>
                <a:latin typeface="Aptos"/>
              </a:defRPr>
            </a:pPr>
            <a:r>
              <a:t>FILE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1188720"/>
            <a:ext cx="1554480" cy="347472"/>
          </a:xfrm>
          <a:prstGeom prst="roundRect">
            <a:avLst/>
          </a:prstGeom>
          <a:solidFill>
            <a:srgbClr val="16283E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1197864"/>
            <a:ext cx="14081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FD3DC"/>
                </a:solidFill>
                <a:latin typeface="Aptos"/>
              </a:defRPr>
            </a:pPr>
            <a:r>
              <a:t>8-WEEK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1828800"/>
            <a:ext cx="6583680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>
                <a:solidFill>
                  <a:srgbClr val="F5F9FC"/>
                </a:solidFill>
                <a:latin typeface="Aptos"/>
              </a:defRPr>
            </a:pPr>
            <a:r>
              <a:t>SECURE</a:t>
            </a:r>
            <a:br/>
            <a:r>
              <a:t>FILE-SHARING</a:t>
            </a:r>
            <a:br/>
            <a:r>
              <a:t>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251960"/>
            <a:ext cx="6309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CDDBE8"/>
                </a:solidFill>
                <a:latin typeface="Aptos"/>
              </a:defRPr>
            </a:pPr>
            <a:r>
              <a:t>A secure platform for authentication, encrypted storage,</a:t>
            </a:r>
            <a:br/>
            <a:r>
              <a:t>controlled sharing, permissions and activity monitoring.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32120"/>
            <a:ext cx="6492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3FD3DC"/>
                </a:solidFill>
                <a:latin typeface="Aptos"/>
              </a:defRPr>
            </a:pPr>
            <a:r>
              <a:t>Python  •  FastAPI  •  MySQL  •  SQLAlchemy  •  JWT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Why Secure File Sharing?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The system is designed around real access-control and file-security problems.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38328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50292" cy="1508760"/>
          </a:xfrm>
          <a:prstGeom prst="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384048" cy="384048"/>
          </a:xfrm>
          <a:prstGeom prst="round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11095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901952"/>
            <a:ext cx="2423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Unauthorized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322576"/>
            <a:ext cx="24231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Users must not access another user's files simply by changing an 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737360"/>
            <a:ext cx="338328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737360"/>
            <a:ext cx="50292" cy="150876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1920240"/>
            <a:ext cx="384048" cy="384048"/>
          </a:xfrm>
          <a:prstGeom prst="round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911095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901952"/>
            <a:ext cx="2423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Unsafe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322576"/>
            <a:ext cx="24231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Sensitive files need protection before they are stored.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737360"/>
            <a:ext cx="297180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737360"/>
            <a:ext cx="50292" cy="1508760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01000" y="1920240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911095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901952"/>
            <a:ext cx="20116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Uncontrolled Sharing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322576"/>
            <a:ext cx="2011679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Owners need control over recipients, permissions and expiry.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520440"/>
            <a:ext cx="338328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3520440"/>
            <a:ext cx="50292" cy="15087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3703320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6941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3685032"/>
            <a:ext cx="2423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Weak Credentials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4105656"/>
            <a:ext cx="24231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Passwords must never be stored as plain text.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3520440"/>
            <a:ext cx="338328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60" y="3520440"/>
            <a:ext cx="50292" cy="1508760"/>
          </a:xfrm>
          <a:prstGeom prst="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34840" y="3703320"/>
            <a:ext cx="384048" cy="384048"/>
          </a:xfrm>
          <a:prstGeom prst="round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6941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3685032"/>
            <a:ext cx="2423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Poor Traceability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4105656"/>
            <a:ext cx="24231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Important successful and failed activities must be recorded.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3520440"/>
            <a:ext cx="297180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18120" y="3520440"/>
            <a:ext cx="50292" cy="150876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01000" y="3703320"/>
            <a:ext cx="384048" cy="384048"/>
          </a:xfrm>
          <a:prstGeom prst="round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1000" y="36941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3685032"/>
            <a:ext cx="20116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Failure Risks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4105656"/>
            <a:ext cx="2011679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Invalid, repeated and failure scenarios must be handled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Project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From 'file upload' to a complete secure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058400" cy="914400"/>
          </a:xfrm>
          <a:prstGeom prst="roundRect">
            <a:avLst/>
          </a:prstGeom>
          <a:solidFill>
            <a:srgbClr val="16283E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46504"/>
            <a:ext cx="9692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5F9FC"/>
                </a:solidFill>
                <a:latin typeface="Aptos"/>
              </a:defRPr>
            </a:pPr>
            <a:r>
              <a:t>BUILD • PROTECT • CONTROL • 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2286000" cy="160020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50292" cy="160020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063240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54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44952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65576"/>
            <a:ext cx="1325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Complete working modules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3552" y="2880360"/>
            <a:ext cx="2286000" cy="160020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2" y="2880360"/>
            <a:ext cx="50292" cy="1600200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56432" y="3063240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3054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3044952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3465576"/>
            <a:ext cx="1325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Authentication + encryption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15583" y="2880360"/>
            <a:ext cx="2286000" cy="160020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15583" y="2880360"/>
            <a:ext cx="50292" cy="1600200"/>
          </a:xfrm>
          <a:prstGeom prst="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98464" y="3063240"/>
            <a:ext cx="384048" cy="384048"/>
          </a:xfrm>
          <a:prstGeom prst="round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8464" y="3054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3044952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3" y="3465576"/>
            <a:ext cx="1325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Permissions + expiry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57616" y="2880360"/>
            <a:ext cx="2286000" cy="160020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57616" y="2880360"/>
            <a:ext cx="50292" cy="160020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40496" y="3063240"/>
            <a:ext cx="384048" cy="384048"/>
          </a:xfrm>
          <a:prstGeom prst="round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0496" y="3054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044952"/>
            <a:ext cx="13258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3465576"/>
            <a:ext cx="132587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Activity + security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A lightweight backend architecture focused on secure APIs and persistent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2487168" cy="155448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50292" cy="155448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1737360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7282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19072"/>
            <a:ext cx="15270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39696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Core backend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554480"/>
            <a:ext cx="2487168" cy="155448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554480"/>
            <a:ext cx="50292" cy="1554480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1737360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7282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719072"/>
            <a:ext cx="15270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139696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REST API framework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554480"/>
            <a:ext cx="2487168" cy="155448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554480"/>
            <a:ext cx="50292" cy="1554480"/>
          </a:xfrm>
          <a:prstGeom prst="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1737360"/>
            <a:ext cx="384048" cy="384048"/>
          </a:xfrm>
          <a:prstGeom prst="round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7282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719072"/>
            <a:ext cx="15270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139696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Relational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1554480"/>
            <a:ext cx="2487168" cy="155448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1554480"/>
            <a:ext cx="50292" cy="155448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59" y="1737360"/>
            <a:ext cx="384048" cy="384048"/>
          </a:xfrm>
          <a:prstGeom prst="round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59" y="17282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719072"/>
            <a:ext cx="1527047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SQLAlchemy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139696"/>
            <a:ext cx="1527047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Database 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3520439"/>
            <a:ext cx="2487168" cy="155448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3520439"/>
            <a:ext cx="50292" cy="155448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59" y="3703320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36941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685031"/>
            <a:ext cx="15270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PyMySQL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105655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MySQL driver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0" y="3520439"/>
            <a:ext cx="2487168" cy="155448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83280" y="3520439"/>
            <a:ext cx="50292" cy="1554480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66160" y="3703320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36941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3685031"/>
            <a:ext cx="15270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JWT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105655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Token authentication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3520439"/>
            <a:ext cx="2487168" cy="155448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3520439"/>
            <a:ext cx="50292" cy="1554480"/>
          </a:xfrm>
          <a:prstGeom prst="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09360" y="3703320"/>
            <a:ext cx="384048" cy="384048"/>
          </a:xfrm>
          <a:prstGeom prst="round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36941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3685031"/>
            <a:ext cx="15270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Encryption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4105655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Secure file storage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9680" y="3520439"/>
            <a:ext cx="2487168" cy="155448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69680" y="3520439"/>
            <a:ext cx="50292" cy="155448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052559" y="3703320"/>
            <a:ext cx="384048" cy="384048"/>
          </a:xfrm>
          <a:prstGeom prst="round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59" y="36941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685031"/>
            <a:ext cx="1527047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Swagger / OpenAPI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4105655"/>
            <a:ext cx="1527047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API testing &amp; 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Modular layers keep security, business logic and persistence clearly separated.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1444752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993392"/>
            <a:ext cx="12984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304288"/>
            <a:ext cx="12984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859AAE"/>
                </a:solidFill>
                <a:latin typeface="Aptos"/>
              </a:defRPr>
            </a:pPr>
            <a:r>
              <a:t>Swagger / API Client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84248" y="2167128"/>
            <a:ext cx="310896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50008" y="1920240"/>
            <a:ext cx="1444752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1993392"/>
            <a:ext cx="12984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304288"/>
            <a:ext cx="12984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859AAE"/>
                </a:solidFill>
                <a:latin typeface="Aptos"/>
              </a:defRPr>
            </a:pPr>
            <a:r>
              <a:t>Routes + Validation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831336" y="2167128"/>
            <a:ext cx="310896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97096" y="1920240"/>
            <a:ext cx="1444752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F76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993392"/>
            <a:ext cx="12984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2304288"/>
            <a:ext cx="12984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859AAE"/>
                </a:solidFill>
                <a:latin typeface="Aptos"/>
              </a:defRPr>
            </a:pPr>
            <a:r>
              <a:t>JWT + Authorization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78424" y="2167128"/>
            <a:ext cx="310896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44184" y="1920240"/>
            <a:ext cx="1444752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53D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17336" y="1993392"/>
            <a:ext cx="12984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7336" y="2304288"/>
            <a:ext cx="12984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859AAE"/>
                </a:solidFill>
                <a:latin typeface="Aptos"/>
              </a:defRPr>
            </a:pPr>
            <a:r>
              <a:t>Business Logic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25512" y="2167128"/>
            <a:ext cx="310896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91272" y="1920240"/>
            <a:ext cx="1444752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FFA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4424" y="1993392"/>
            <a:ext cx="12984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4424" y="2304288"/>
            <a:ext cx="12984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859AAE"/>
                </a:solidFill>
                <a:latin typeface="Aptos"/>
              </a:defRPr>
            </a:pPr>
            <a:r>
              <a:t>SQLAlchemy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72600" y="2167128"/>
            <a:ext cx="310896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38360" y="1920240"/>
            <a:ext cx="1444752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1512" y="1993392"/>
            <a:ext cx="12984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2" y="2304288"/>
            <a:ext cx="129844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859AAE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79476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Modular project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224528"/>
            <a:ext cx="9784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CDDBE8"/>
                </a:solidFill>
                <a:latin typeface="Aptos"/>
              </a:defRPr>
            </a:pPr>
            <a:r>
              <a:t>app/main.py   •   config   •   database   •   models   •   schemas</a:t>
            </a:r>
            <a:br/>
            <a:r>
              <a:t>routes   •   services   •   security   •   utils   •  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Secure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Identity is established before any protected file operation.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6916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15453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154533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859AAE"/>
                </a:solidFill>
                <a:latin typeface="Aptos"/>
              </a:defRPr>
            </a:pPr>
            <a:r>
              <a:t>Name • Email • Password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04288" y="2103120"/>
            <a:ext cx="365760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07208" y="1828800"/>
            <a:ext cx="16916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901952"/>
            <a:ext cx="15453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HASH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212848"/>
            <a:ext cx="154533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859AAE"/>
                </a:solidFill>
                <a:latin typeface="Aptos"/>
              </a:defRPr>
            </a:pPr>
            <a:r>
              <a:t>Never store plain text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44568" y="2103120"/>
            <a:ext cx="365760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7488" y="1828800"/>
            <a:ext cx="16916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FFA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901952"/>
            <a:ext cx="15453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12848"/>
            <a:ext cx="154533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859AAE"/>
                </a:solidFill>
                <a:latin typeface="Aptos"/>
              </a:defRPr>
            </a:pPr>
            <a:r>
              <a:t>Verify credentials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784848" y="2103120"/>
            <a:ext cx="365760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87768" y="1828800"/>
            <a:ext cx="16916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53D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901952"/>
            <a:ext cx="15453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212848"/>
            <a:ext cx="154533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859AAE"/>
                </a:solidFill>
                <a:latin typeface="Aptos"/>
              </a:defRPr>
            </a:pPr>
            <a:r>
              <a:t>Create JWT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25128" y="2103120"/>
            <a:ext cx="365760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28048" y="1828800"/>
            <a:ext cx="16916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901952"/>
            <a:ext cx="15453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212848"/>
            <a:ext cx="154533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859AAE"/>
                </a:solidFill>
                <a:latin typeface="Aptos"/>
              </a:defRPr>
            </a:pPr>
            <a:r>
              <a:t>Protected APIs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703320"/>
            <a:ext cx="4892040" cy="123444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703320"/>
            <a:ext cx="50292" cy="1234440"/>
          </a:xfrm>
          <a:prstGeom prst="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3886200"/>
            <a:ext cx="384048" cy="384048"/>
          </a:xfrm>
          <a:prstGeom prst="round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87705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867911"/>
            <a:ext cx="3931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288536"/>
            <a:ext cx="3931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System management and administrative features.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7880" y="3703320"/>
            <a:ext cx="4892040" cy="123444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97880" y="3703320"/>
            <a:ext cx="50292" cy="1234440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80760" y="3886200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387705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867911"/>
            <a:ext cx="3931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288536"/>
            <a:ext cx="3931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Own files and permitted resources.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FILE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File Management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Every file passes through validation and ownership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3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09928" y="2267712"/>
            <a:ext cx="292608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48256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19272" y="2267712"/>
            <a:ext cx="292608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28616" y="2267712"/>
            <a:ext cx="292608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66944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096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DISPLAY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37959" y="2267712"/>
            <a:ext cx="292608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76288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DOWNLOAD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147304" y="2267712"/>
            <a:ext cx="292608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85632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58784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RENAME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56648" y="2267712"/>
            <a:ext cx="292608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94976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749039"/>
            <a:ext cx="3246120" cy="123444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749039"/>
            <a:ext cx="50292" cy="123444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3931920"/>
            <a:ext cx="384048" cy="384048"/>
          </a:xfrm>
          <a:prstGeom prst="round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9227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3913631"/>
            <a:ext cx="2286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File 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334255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Reject empty, long, duplicate or unsafe names.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3749039"/>
            <a:ext cx="3246120" cy="123444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60520" y="3749039"/>
            <a:ext cx="50292" cy="1234440"/>
          </a:xfrm>
          <a:prstGeom prst="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43400" y="3931920"/>
            <a:ext cx="384048" cy="384048"/>
          </a:xfrm>
          <a:prstGeom prst="round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39227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913631"/>
            <a:ext cx="2286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File Size / 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4334255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Check size limits, allowed types and corrupted files.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0" y="3749039"/>
            <a:ext cx="3246120" cy="123444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89520" y="3749039"/>
            <a:ext cx="50292" cy="1234440"/>
          </a:xfrm>
          <a:prstGeom prst="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772400" y="3931920"/>
            <a:ext cx="384048" cy="384048"/>
          </a:xfrm>
          <a:prstGeom prst="round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39227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913631"/>
            <a:ext cx="228599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Ownership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334255"/>
            <a:ext cx="228599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Every file has an owner; ID changes cannot bypass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Encryption &amp; Secure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The file is protected before storage and decrypted only for an authorized request.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3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ORIGINAL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09928" y="2267712"/>
            <a:ext cx="283464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48256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19272" y="2267712"/>
            <a:ext cx="283464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53D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ENCRYPT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28616" y="2267712"/>
            <a:ext cx="283464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66944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FFA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096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37959" y="2267712"/>
            <a:ext cx="283464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76288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AUTHORIZE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147304" y="2267712"/>
            <a:ext cx="283464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85632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53D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58784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DECRYPT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56648" y="2267712"/>
            <a:ext cx="283464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94976" y="2011680"/>
            <a:ext cx="123444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2084832"/>
            <a:ext cx="10881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DOWNLOAD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79476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Test coverage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343400"/>
            <a:ext cx="1417320" cy="347472"/>
          </a:xfrm>
          <a:prstGeom prst="roundRect">
            <a:avLst/>
          </a:prstGeom>
          <a:solidFill>
            <a:srgbClr val="16283E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352544"/>
            <a:ext cx="12710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FD3DC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1760" y="4343400"/>
            <a:ext cx="1417320" cy="347472"/>
          </a:xfrm>
          <a:prstGeom prst="roundRect">
            <a:avLst/>
          </a:prstGeom>
          <a:solidFill>
            <a:srgbClr val="16283E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24912" y="4352544"/>
            <a:ext cx="12710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B84FF"/>
                </a:solidFill>
                <a:latin typeface="Aptos"/>
              </a:defRPr>
            </a:pPr>
            <a:r>
              <a:t>Images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4343400"/>
            <a:ext cx="1417320" cy="347472"/>
          </a:xfrm>
          <a:prstGeom prst="roundRect">
            <a:avLst/>
          </a:prstGeom>
          <a:solidFill>
            <a:srgbClr val="16283E"/>
          </a:solidFill>
          <a:ln>
            <a:solidFill>
              <a:srgbClr val="53D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4352544"/>
            <a:ext cx="12710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3D699"/>
                </a:solidFill>
                <a:latin typeface="Aptos"/>
              </a:defRPr>
            </a:pPr>
            <a:r>
              <a:t>PDFs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343400"/>
            <a:ext cx="1417320" cy="347472"/>
          </a:xfrm>
          <a:prstGeom prst="roundRect">
            <a:avLst/>
          </a:prstGeom>
          <a:solidFill>
            <a:srgbClr val="16283E"/>
          </a:solidFill>
          <a:ln>
            <a:solidFill>
              <a:srgbClr val="FFA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4352544"/>
            <a:ext cx="12710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AD52"/>
                </a:solidFill>
                <a:latin typeface="Aptos"/>
              </a:defRPr>
            </a:pPr>
            <a:r>
              <a:t>ZIP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4343400"/>
            <a:ext cx="1417320" cy="347472"/>
          </a:xfrm>
          <a:prstGeom prst="roundRect">
            <a:avLst/>
          </a:prstGeom>
          <a:solidFill>
            <a:srgbClr val="16283E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85632" y="4352544"/>
            <a:ext cx="12710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FD3DC"/>
                </a:solidFill>
                <a:latin typeface="Aptos"/>
              </a:defRPr>
            </a:pPr>
            <a:r>
              <a:t>Large 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07492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859AAE"/>
                </a:solidFill>
                <a:latin typeface="Aptos"/>
              </a:defRPr>
            </a:pPr>
            <a:r>
              <a:t>Security tests: unauthorized download • invalid file ID • missing key • corrupted encrypted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Controlled File Sharing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The owner decides who can access a file, what they can do and for how long.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160020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1453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SELECT FILE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31136" y="2039112"/>
            <a:ext cx="347472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1783080"/>
            <a:ext cx="160020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1856231"/>
            <a:ext cx="1453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SELECT USER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79976" y="2039112"/>
            <a:ext cx="347472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92040" y="1783080"/>
            <a:ext cx="160020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53D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65192" y="1856231"/>
            <a:ext cx="1453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PERMISSION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28816" y="2039112"/>
            <a:ext cx="347472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80" y="1783080"/>
            <a:ext cx="160020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FFA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1856231"/>
            <a:ext cx="1453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EXPIRY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677656" y="2039112"/>
            <a:ext cx="347472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20" y="1783080"/>
            <a:ext cx="1600200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1856231"/>
            <a:ext cx="1453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CREATE SHARE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3246120"/>
            <a:ext cx="1371600" cy="347472"/>
          </a:xfrm>
          <a:prstGeom prst="roundRect">
            <a:avLst/>
          </a:prstGeom>
          <a:solidFill>
            <a:srgbClr val="16283E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6152" y="3255263"/>
            <a:ext cx="12252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FD3DC"/>
                </a:solidFill>
                <a:latin typeface="Aptos"/>
              </a:defRPr>
            </a:pPr>
            <a:r>
              <a:t>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3246120"/>
            <a:ext cx="1645920" cy="347472"/>
          </a:xfrm>
          <a:prstGeom prst="roundRect">
            <a:avLst/>
          </a:prstGeom>
          <a:solidFill>
            <a:srgbClr val="16283E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9232" y="3255263"/>
            <a:ext cx="14996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B84FF"/>
                </a:solidFill>
                <a:latin typeface="Aptos"/>
              </a:defRPr>
            </a:pPr>
            <a:r>
              <a:t>DOWNLOAD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246120"/>
            <a:ext cx="1371600" cy="347472"/>
          </a:xfrm>
          <a:prstGeom prst="roundRect">
            <a:avLst/>
          </a:prstGeom>
          <a:solidFill>
            <a:srgbClr val="16283E"/>
          </a:solidFill>
          <a:ln>
            <a:solidFill>
              <a:srgbClr val="53D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02352" y="3255263"/>
            <a:ext cx="12252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3D699"/>
                </a:solidFill>
                <a:latin typeface="Aptos"/>
              </a:defRPr>
            </a:pPr>
            <a:r>
              <a:t>EDIT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2971800"/>
            <a:ext cx="3840480" cy="141732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12280" y="2971800"/>
            <a:ext cx="50292" cy="141732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95160" y="3154680"/>
            <a:ext cx="384048" cy="384048"/>
          </a:xfrm>
          <a:prstGeom prst="round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314553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136392"/>
            <a:ext cx="2880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Expiry &amp; Limits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3557016"/>
            <a:ext cx="2880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Future expiry → allow</a:t>
            </a:r>
            <a:br/>
            <a:r>
              <a:t>Expired share → block</a:t>
            </a:r>
            <a:br/>
            <a:r>
              <a:t>Download limit exceeded → block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663440"/>
            <a:ext cx="4663440" cy="109728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4663440"/>
            <a:ext cx="50292" cy="1097280"/>
          </a:xfrm>
          <a:prstGeom prst="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97280" y="4846320"/>
            <a:ext cx="384048" cy="384048"/>
          </a:xfrm>
          <a:prstGeom prst="round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48371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19" y="4828031"/>
            <a:ext cx="3703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Revocation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19" y="5248655"/>
            <a:ext cx="3703320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Owner revokes share → access immediately blocked.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97880" y="4663440"/>
            <a:ext cx="4663440" cy="109728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97880" y="4663440"/>
            <a:ext cx="50292" cy="1097280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080760" y="4846320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48371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828031"/>
            <a:ext cx="3703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Recipient Security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5248655"/>
            <a:ext cx="3703320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Unauthorized recipient cannot access or re-share without permission.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Activity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Security logs provide an audit trail of system activity.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246120" cy="123444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50292" cy="123444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1737360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7282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19072"/>
            <a:ext cx="2286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39696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USER_REGISTERED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554480"/>
            <a:ext cx="3246120" cy="123444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554480"/>
            <a:ext cx="50292" cy="1234440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1737360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7282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719072"/>
            <a:ext cx="2286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139696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SUCCESS / FAILED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554480"/>
            <a:ext cx="3246120" cy="123444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1554480"/>
            <a:ext cx="50292" cy="1234440"/>
          </a:xfrm>
          <a:prstGeom prst="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0" y="1737360"/>
            <a:ext cx="384048" cy="384048"/>
          </a:xfrm>
          <a:prstGeom prst="round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17282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719072"/>
            <a:ext cx="228599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139696"/>
            <a:ext cx="228599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FILE_UPLOADED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154680"/>
            <a:ext cx="3246120" cy="123444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154680"/>
            <a:ext cx="50292" cy="123444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59" y="3337560"/>
            <a:ext cx="384048" cy="384048"/>
          </a:xfrm>
          <a:prstGeom prst="round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33284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319272"/>
            <a:ext cx="2286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DOWNLOAD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739896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FILE_DOWNLOADED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3154680"/>
            <a:ext cx="3246120" cy="123444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60520" y="3154680"/>
            <a:ext cx="50292" cy="123444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43400" y="3337560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33284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3319272"/>
            <a:ext cx="2286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SHARE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3739896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FILE_SHARED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3154680"/>
            <a:ext cx="3246120" cy="123444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60" y="3154680"/>
            <a:ext cx="50292" cy="1234440"/>
          </a:xfrm>
          <a:prstGeom prst="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863840" y="3337560"/>
            <a:ext cx="384048" cy="384048"/>
          </a:xfrm>
          <a:prstGeom prst="round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33284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319272"/>
            <a:ext cx="228599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REVOKE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739896"/>
            <a:ext cx="228599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SHARE_REVOKED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4983480"/>
            <a:ext cx="10058400" cy="685800"/>
          </a:xfrm>
          <a:prstGeom prst="roundRect">
            <a:avLst/>
          </a:prstGeom>
          <a:solidFill>
            <a:srgbClr val="16283E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5120640"/>
            <a:ext cx="9692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9FC"/>
                </a:solidFill>
                <a:latin typeface="Aptos"/>
              </a:defRPr>
            </a:pPr>
            <a:r>
              <a:t>Each log answers:  WHO  •  WHAT  •  WHEN  •  RESOURCE  •  SUCCESS / FAILURE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User &amp; Admin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Different roles see the information and controls relevant to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029200" cy="33375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50292" cy="3337560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7393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764792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USER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185416"/>
            <a:ext cx="406908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Total files</a:t>
            </a:r>
            <a:br/>
            <a:r>
              <a:t>Storage used</a:t>
            </a:r>
            <a:br/>
            <a:r>
              <a:t>Shared files</a:t>
            </a:r>
            <a:br/>
            <a:r>
              <a:t>Files shared by the user</a:t>
            </a:r>
            <a:br/>
            <a:r>
              <a:t>Recent activity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600200"/>
            <a:ext cx="5029200" cy="33375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1600200"/>
            <a:ext cx="50292" cy="3337560"/>
          </a:xfrm>
          <a:prstGeom prst="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80760" y="1783080"/>
            <a:ext cx="384048" cy="384048"/>
          </a:xfrm>
          <a:prstGeom prst="round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77393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764792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ADMIN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185416"/>
            <a:ext cx="406908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Total users</a:t>
            </a:r>
            <a:br/>
            <a:r>
              <a:t>Total files</a:t>
            </a:r>
            <a:br/>
            <a:r>
              <a:t>Storage usage</a:t>
            </a:r>
            <a:br/>
            <a:r>
              <a:t>Active / expired shares</a:t>
            </a:r>
            <a:br/>
            <a:r>
              <a:t>Download activity</a:t>
            </a:r>
            <a:br/>
            <a:r>
              <a:t>Failed logins</a:t>
            </a:r>
            <a:br/>
            <a:r>
              <a:t>Security events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End-to-End Secure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All modules connect into one complete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481328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673352"/>
            <a:ext cx="13350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75688" y="1847088"/>
            <a:ext cx="274320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04872" y="1600200"/>
            <a:ext cx="1481328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78024" y="1673352"/>
            <a:ext cx="13350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31920" y="1847088"/>
            <a:ext cx="274320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61103" y="1600200"/>
            <a:ext cx="1481328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5" y="1673352"/>
            <a:ext cx="13350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88151" y="1847088"/>
            <a:ext cx="274320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17336" y="1600200"/>
            <a:ext cx="1481328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1673352"/>
            <a:ext cx="13350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644383" y="1847088"/>
            <a:ext cx="274320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3567" y="1600200"/>
            <a:ext cx="1481328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1673352"/>
            <a:ext cx="13350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500615" y="1847088"/>
            <a:ext cx="274320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29799" y="1600200"/>
            <a:ext cx="1481328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3F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2951" y="1673352"/>
            <a:ext cx="13350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ENCRYPT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246120"/>
            <a:ext cx="1481328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319272"/>
            <a:ext cx="13350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075688" y="3493008"/>
            <a:ext cx="274320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04872" y="3246120"/>
            <a:ext cx="1481328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78024" y="3319272"/>
            <a:ext cx="13350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SHARE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931920" y="3493008"/>
            <a:ext cx="274320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61103" y="3246120"/>
            <a:ext cx="1481328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34255" y="3319272"/>
            <a:ext cx="13350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CHECK ACCESS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788151" y="3493008"/>
            <a:ext cx="274320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17336" y="3246120"/>
            <a:ext cx="1481328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0488" y="3319272"/>
            <a:ext cx="13350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DOWNLOAD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644383" y="3493008"/>
            <a:ext cx="274320" cy="256032"/>
          </a:xfrm>
          <a:prstGeom prst="rightArrow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973567" y="3246120"/>
            <a:ext cx="1481328" cy="777240"/>
          </a:xfrm>
          <a:prstGeom prst="roundRect">
            <a:avLst/>
          </a:prstGeom>
          <a:solidFill>
            <a:srgbClr val="111F32"/>
          </a:solidFill>
          <a:ln>
            <a:solidFill>
              <a:srgbClr val="4B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19" y="3319272"/>
            <a:ext cx="13350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166360"/>
            <a:ext cx="9875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5F9FC"/>
                </a:solidFill>
                <a:latin typeface="Aptos"/>
              </a:defRPr>
            </a:pPr>
            <a:r>
              <a:t>The complete flow must work without manually modifying the database.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Security-First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Testing covers both expected behavior and attempts to break the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058400" cy="658368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0292" cy="658368"/>
          </a:xfrm>
          <a:prstGeom prst="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600200"/>
            <a:ext cx="384048" cy="384048"/>
          </a:xfrm>
          <a:prstGeom prst="round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9105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581912"/>
            <a:ext cx="9098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002536"/>
            <a:ext cx="9098280" cy="-27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Register • Login • Upload • Share • Access • Download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10058400" cy="658368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86000"/>
            <a:ext cx="50292" cy="658368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2468880"/>
            <a:ext cx="384048" cy="384048"/>
          </a:xfrm>
          <a:prstGeom prst="round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45973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450592"/>
            <a:ext cx="9098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INVALID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871216"/>
            <a:ext cx="9098280" cy="-27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Empty fields • Invalid email • Wrong password • Unsupported 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54680"/>
            <a:ext cx="10058400" cy="658368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154680"/>
            <a:ext cx="50292" cy="658368"/>
          </a:xfrm>
          <a:prstGeom prst="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3337560"/>
            <a:ext cx="384048" cy="384048"/>
          </a:xfrm>
          <a:prstGeom prst="round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3284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319272"/>
            <a:ext cx="9098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UNAUTHORIZED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739896"/>
            <a:ext cx="9098280" cy="-27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Other user's file • Admin feature • No download permission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023359"/>
            <a:ext cx="10058400" cy="658368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023359"/>
            <a:ext cx="50292" cy="658368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206240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1970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187951"/>
            <a:ext cx="9098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REPEATED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608575"/>
            <a:ext cx="9098280" cy="-27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Double upload • Delete twice • Share twice • Repeated login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892040"/>
            <a:ext cx="10058400" cy="658368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892040"/>
            <a:ext cx="50292" cy="658368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" y="5074920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0657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056631"/>
            <a:ext cx="90982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477255"/>
            <a:ext cx="9098280" cy="-27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DB unavailable • Missing/corrupt file • Invalid/expired token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8-Week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A working part of the final system is produced every week.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42316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3FD3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70992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9FC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08760"/>
            <a:ext cx="242316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67335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3FD3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70992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9FC"/>
                </a:solidFill>
                <a:latin typeface="Aptos"/>
              </a:defRPr>
            </a:pPr>
            <a:r>
              <a:t>Users &amp; 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508760"/>
            <a:ext cx="242316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67335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3FD3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70992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9FC"/>
                </a:solidFill>
                <a:latin typeface="Aptos"/>
              </a:defRPr>
            </a:pPr>
            <a:r>
              <a:t>File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508760"/>
            <a:ext cx="242316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1673351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3FD3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19" y="170992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9FC"/>
                </a:solidFill>
                <a:latin typeface="Aptos"/>
              </a:defRPr>
            </a:pPr>
            <a:r>
              <a:t>Encryption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11879"/>
            <a:ext cx="242316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77647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3FD3D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381304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9FC"/>
                </a:solidFill>
                <a:latin typeface="Aptos"/>
              </a:defRPr>
            </a:pPr>
            <a:r>
              <a:t>Sharing &amp; Permissions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611879"/>
            <a:ext cx="242316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377647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3FD3D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81304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9FC"/>
                </a:solidFill>
                <a:latin typeface="Aptos"/>
              </a:defRPr>
            </a:pPr>
            <a:r>
              <a:t>Monitoring &amp; Logs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611879"/>
            <a:ext cx="242316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377647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3FD3D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81304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9FC"/>
                </a:solidFill>
                <a:latin typeface="Aptos"/>
              </a:defRPr>
            </a:pPr>
            <a:r>
              <a:t>Complete Integration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3611879"/>
            <a:ext cx="242316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4272" y="377647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3FD3D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19" y="381304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9FC"/>
                </a:solidFill>
                <a:latin typeface="Aptos"/>
              </a:defRPr>
            </a:pPr>
            <a:r>
              <a:t>Testing &amp; Delivery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What the completed system demonstrates.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29184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50292" cy="15087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91639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82495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673351"/>
            <a:ext cx="2331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SECURE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093976"/>
            <a:ext cx="233172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Protected passwords, JWT authentication and role-based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508760"/>
            <a:ext cx="329184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508760"/>
            <a:ext cx="50292" cy="1508760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691639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682495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673351"/>
            <a:ext cx="2331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PROTECTED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093976"/>
            <a:ext cx="233172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Validation, encryption and authorized downloads.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508760"/>
            <a:ext cx="329184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508760"/>
            <a:ext cx="50292" cy="1508760"/>
          </a:xfrm>
          <a:prstGeom prst="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01000" y="1691639"/>
            <a:ext cx="384048" cy="384048"/>
          </a:xfrm>
          <a:prstGeom prst="round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682495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673351"/>
            <a:ext cx="2331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CONTROLLED SHARING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093976"/>
            <a:ext cx="2331719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Permissions, expiry, download limits and revocation.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474720"/>
            <a:ext cx="329184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474720"/>
            <a:ext cx="50292" cy="150876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657600"/>
            <a:ext cx="384048" cy="384048"/>
          </a:xfrm>
          <a:prstGeom prst="round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64845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639312"/>
            <a:ext cx="2331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AUDITABILITY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059935"/>
            <a:ext cx="233172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Successful and failed activities are recorded.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3474720"/>
            <a:ext cx="329184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06240" y="3474720"/>
            <a:ext cx="50292" cy="1508760"/>
          </a:xfrm>
          <a:prstGeom prst="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89120" y="3657600"/>
            <a:ext cx="384048" cy="384048"/>
          </a:xfrm>
          <a:prstGeom prst="round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364845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3639312"/>
            <a:ext cx="2331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059935"/>
            <a:ext cx="233172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Invalid, repeated and failure cases are handled safely.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3474720"/>
            <a:ext cx="329184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18120" y="3474720"/>
            <a:ext cx="50292" cy="15087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01000" y="3657600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1000" y="364845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3639312"/>
            <a:ext cx="2331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MAINTAINABILITY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4059935"/>
            <a:ext cx="2331719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Clear modules, documentation, testing and understandable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Definition of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A feature is complete only when quality is proven.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51460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0292" cy="1508760"/>
          </a:xfrm>
          <a:prstGeom prst="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384048" cy="384048"/>
          </a:xfrm>
          <a:prstGeom prst="round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9105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581912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002536"/>
            <a:ext cx="155448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Normal workflow succeeds.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1417320"/>
            <a:ext cx="251460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1417320"/>
            <a:ext cx="50292" cy="15087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47288" y="1600200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159105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5928" y="1581912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VALIDATES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5928" y="2002536"/>
            <a:ext cx="155448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Invalid input is rejected.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25896" y="1417320"/>
            <a:ext cx="251460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25896" y="1417320"/>
            <a:ext cx="50292" cy="1508760"/>
          </a:xfrm>
          <a:prstGeom prst="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08776" y="1600200"/>
            <a:ext cx="384048" cy="384048"/>
          </a:xfrm>
          <a:prstGeom prst="round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776" y="159105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7416" y="1581912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SECURE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7416" y="2002536"/>
            <a:ext cx="155448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Unauthorized access is blocked.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7384" y="1417320"/>
            <a:ext cx="251460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87384" y="1417320"/>
            <a:ext cx="50292" cy="150876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70264" y="1600200"/>
            <a:ext cx="384048" cy="384048"/>
          </a:xfrm>
          <a:prstGeom prst="round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0264" y="159105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18904" y="1581912"/>
            <a:ext cx="15544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ERROR-SAFE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8904" y="2002536"/>
            <a:ext cx="1554479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Failures are handled safely.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383280"/>
            <a:ext cx="251460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383280"/>
            <a:ext cx="50292" cy="1508760"/>
          </a:xfrm>
          <a:prstGeom prst="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5800" y="3566160"/>
            <a:ext cx="384048" cy="384048"/>
          </a:xfrm>
          <a:prstGeom prst="roundRect">
            <a:avLst/>
          </a:prstGeom>
          <a:solidFill>
            <a:srgbClr val="53D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5570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3547872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TESTED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3968496"/>
            <a:ext cx="155448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Normal + boundary + failure cases covered.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64408" y="3383280"/>
            <a:ext cx="251460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64408" y="3383280"/>
            <a:ext cx="50292" cy="15087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447288" y="3566160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47288" y="35570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95928" y="3547872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DOCUMENTED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95928" y="3968496"/>
            <a:ext cx="155448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Another developer can understand it.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25896" y="3383280"/>
            <a:ext cx="251460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25896" y="3383280"/>
            <a:ext cx="50292" cy="1508760"/>
          </a:xfrm>
          <a:prstGeom prst="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08776" y="3566160"/>
            <a:ext cx="384048" cy="384048"/>
          </a:xfrm>
          <a:prstGeom prst="roundRect">
            <a:avLst/>
          </a:prstGeom>
          <a:solidFill>
            <a:srgbClr val="F76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08776" y="35570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7416" y="3547872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COMMITTED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57416" y="3968496"/>
            <a:ext cx="155448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Correct GitHub branch contains the work.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7384" y="3383280"/>
            <a:ext cx="2514600" cy="1508760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787384" y="3383280"/>
            <a:ext cx="50292" cy="150876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70264" y="3566160"/>
            <a:ext cx="384048" cy="384048"/>
          </a:xfrm>
          <a:prstGeom prst="round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70264" y="35570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18904" y="3547872"/>
            <a:ext cx="15544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UNDERSTOOD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18904" y="3968496"/>
            <a:ext cx="1554479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Team can explain the implementation.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9FC"/>
                </a:solidFill>
                <a:latin typeface="Aptos"/>
              </a:defRPr>
            </a:pPr>
            <a:r>
              <a:t>Final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859AAE"/>
                </a:solidFill>
                <a:latin typeface="Aptos"/>
              </a:defRPr>
            </a:pPr>
            <a:r>
              <a:t>A concise walkthrough of the complete secure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71600"/>
            <a:ext cx="50292" cy="530352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54480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4533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536192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1956816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User Registration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50292" cy="530352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554480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4533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536192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956816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Secure Login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029967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029967"/>
            <a:ext cx="50292" cy="530352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2212848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203703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2194560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2615184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File Upload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029967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029967"/>
            <a:ext cx="50292" cy="530352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9360" y="2212848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203703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194560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615184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File Validation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2688336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2688336"/>
            <a:ext cx="50292" cy="530352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8680" y="2871216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28620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19" y="2852928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3273552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Encrypted Storage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688336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2688336"/>
            <a:ext cx="50292" cy="530352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09360" y="2871216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8620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2852928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273552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File Sharing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3346704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3346704"/>
            <a:ext cx="50292" cy="530352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68680" y="3529584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35204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19" y="3511296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3931920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Permission Check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0" y="3346704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3346704"/>
            <a:ext cx="50292" cy="530352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09360" y="3529584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5204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3511296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3931920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Authorized Download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" y="4005072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" y="4005072"/>
            <a:ext cx="50292" cy="530352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68680" y="4187952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41788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17319" y="4169663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17319" y="4590288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Activity Logging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80" y="4005072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26480" y="4005072"/>
            <a:ext cx="50292" cy="530352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09360" y="4187952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41788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4169663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4590288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Share Expiration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5800" y="4663440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85800" y="4663440"/>
            <a:ext cx="50292" cy="530352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68680" y="4846320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8680" y="48371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17319" y="4828031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17319" y="5248655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Access Revocation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26480" y="4663440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26480" y="4663440"/>
            <a:ext cx="50292" cy="530352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309360" y="4846320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48371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0" y="4828031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0" y="5248655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Admin Monitoring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85800" y="5321808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5800" y="5321808"/>
            <a:ext cx="50292" cy="530352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68680" y="5504688"/>
            <a:ext cx="384048" cy="384048"/>
          </a:xfrm>
          <a:prstGeom prst="round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8680" y="549554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17319" y="5486400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17319" y="5907024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Error Handling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26480" y="5321808"/>
            <a:ext cx="5029200" cy="530352"/>
          </a:xfrm>
          <a:prstGeom prst="roundRect">
            <a:avLst/>
          </a:prstGeom>
          <a:solidFill>
            <a:srgbClr val="111F32"/>
          </a:solidFill>
          <a:ln>
            <a:solidFill>
              <a:srgbClr val="21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26480" y="5321808"/>
            <a:ext cx="50292" cy="530352"/>
          </a:xfrm>
          <a:prstGeom prst="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309360" y="5504688"/>
            <a:ext cx="384048" cy="384048"/>
          </a:xfrm>
          <a:prstGeom prst="roundRect">
            <a:avLst/>
          </a:prstGeom>
          <a:solidFill>
            <a:srgbClr val="4B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09360" y="549554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9122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0" y="5486400"/>
            <a:ext cx="4069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0" y="5907024"/>
            <a:ext cx="4069080" cy="-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CDDBE8"/>
                </a:solidFill>
                <a:latin typeface="Aptos"/>
              </a:defRPr>
            </a:pPr>
            <a:r>
              <a:t>Deployment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881360" cy="22860"/>
          </a:xfrm>
          <a:prstGeom prst="rect">
            <a:avLst/>
          </a:prstGeom>
          <a:solidFill>
            <a:srgbClr val="3F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859AA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D3DC"/>
                </a:solidFill>
                <a:latin typeface="Aptos"/>
              </a:defRPr>
            </a:pPr>
            <a: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5F9FC"/>
                </a:solidFill>
                <a:latin typeface="Aptos"/>
              </a:defRPr>
            </a:pPr>
            <a:r>
              <a:t>SECURE BY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9875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FD3DC"/>
                </a:solidFill>
                <a:latin typeface="Aptos"/>
              </a:defRPr>
            </a:pPr>
            <a:r>
              <a:t>Reliable files. Controlled access. Traceable activity.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9875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859AAE"/>
                </a:solidFill>
                <a:latin typeface="Aptos"/>
              </a:defRPr>
            </a:pPr>
            <a:r>
              <a:t>SECURE FILE-SHARING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5F9FC"/>
                </a:solidFill>
                <a:latin typeface="Aptos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